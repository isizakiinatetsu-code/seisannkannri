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635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Meiryo"/>
              </a:rPr>
              <a:t>納入管理システム 導入効果レポート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327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C9D4E8"/>
                </a:solidFill>
                <a:latin typeface="Meiryo"/>
              </a:rPr>
              <a:t>納品書の写真共有・電話問い合わせ対応の課題はどう解消されるか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9FB0CE"/>
                </a:solidFill>
                <a:latin typeface="Meiryo"/>
              </a:rPr>
              <a:t>鋼材・建材 納入管理システム（Next.js + Supabase / クラウド運用）　　作成日: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2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eiryo"/>
              </a:rPr>
              <a:t>. 目次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0"/>
            <a:ext cx="146304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eiryo"/>
              </a:rPr>
              <a:t>INATETSU</a:t>
            </a:r>
          </a:p>
          <a:p>
            <a:pPr algn="r">
              <a:spcAft>
                <a:spcPts val="0"/>
              </a:spcAft>
            </a:pPr>
            <a:r>
              <a:rPr sz="800" b="0">
                <a:solidFill>
                  <a:srgbClr val="C9D4E8"/>
                </a:solidFill>
                <a:latin typeface="Meiryo"/>
              </a:rPr>
              <a:t>納入管理システム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80160"/>
            <a:ext cx="502920" cy="6400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5029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280160"/>
            <a:ext cx="98755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22A35"/>
                </a:solidFill>
                <a:latin typeface="Meiryo"/>
              </a:rPr>
              <a:t>背景 ― 現状の課題</a:t>
            </a:r>
            <a:r>
              <a:rPr sz="1200" b="0">
                <a:solidFill>
                  <a:srgbClr val="6B7280"/>
                </a:solidFill>
                <a:latin typeface="Meiryo"/>
              </a:rPr>
              <a:t>　— 納品書の写真共有 / 電話での問い合わせ対応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121408"/>
            <a:ext cx="502920" cy="6400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21408"/>
            <a:ext cx="5029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21408"/>
            <a:ext cx="98755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22A35"/>
                </a:solidFill>
                <a:latin typeface="Meiryo"/>
              </a:rPr>
              <a:t>旧フローの所要時間と削減見込み</a:t>
            </a:r>
            <a:r>
              <a:rPr sz="1200" b="0">
                <a:solidFill>
                  <a:srgbClr val="6B7280"/>
                </a:solidFill>
                <a:latin typeface="Meiryo"/>
              </a:rPr>
              <a:t>　— 電話→エクセル→写真確認 の時間試算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962656"/>
            <a:ext cx="502920" cy="6400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962656"/>
            <a:ext cx="5029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962656"/>
            <a:ext cx="98755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22A35"/>
                </a:solidFill>
                <a:latin typeface="Meiryo"/>
              </a:rPr>
              <a:t>本システムで解消が見込めること</a:t>
            </a:r>
            <a:r>
              <a:rPr sz="1200" b="0">
                <a:solidFill>
                  <a:srgbClr val="6B7280"/>
                </a:solidFill>
                <a:latin typeface="Meiryo"/>
              </a:rPr>
              <a:t>　— 課題①・②それぞれの解決の仕組み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803904"/>
            <a:ext cx="502920" cy="6400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03904"/>
            <a:ext cx="5029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803904"/>
            <a:ext cx="98755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22A35"/>
                </a:solidFill>
                <a:latin typeface="Meiryo"/>
              </a:rPr>
              <a:t>システム画面（WEB・スマホ）</a:t>
            </a:r>
            <a:r>
              <a:rPr sz="1200" b="0">
                <a:solidFill>
                  <a:srgbClr val="6B7280"/>
                </a:solidFill>
                <a:latin typeface="Meiryo"/>
              </a:rPr>
              <a:t>　— 実機スクリーンショット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645152"/>
            <a:ext cx="502920" cy="6400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645152"/>
            <a:ext cx="5029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eiryo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645152"/>
            <a:ext cx="98755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22A35"/>
                </a:solidFill>
                <a:latin typeface="Meiryo"/>
              </a:rPr>
              <a:t>注目すべき「工夫」</a:t>
            </a:r>
            <a:r>
              <a:rPr sz="1200" b="0">
                <a:solidFill>
                  <a:srgbClr val="6B7280"/>
                </a:solidFill>
                <a:latin typeface="Meiryo"/>
              </a:rPr>
              <a:t>　— 現場運用を意識した実装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486400"/>
            <a:ext cx="502920" cy="6400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486400"/>
            <a:ext cx="5029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eiry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5486400"/>
            <a:ext cx="98755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22A35"/>
                </a:solidFill>
                <a:latin typeface="Meiryo"/>
              </a:rPr>
              <a:t>まとめ ― 期待される効果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2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eiryo"/>
              </a:rPr>
              <a:t>1. 背景 ― 現状の課題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0"/>
            <a:ext cx="146304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eiryo"/>
              </a:rPr>
              <a:t>INATETSU</a:t>
            </a:r>
          </a:p>
          <a:p>
            <a:pPr algn="r">
              <a:spcAft>
                <a:spcPts val="0"/>
              </a:spcAft>
            </a:pPr>
            <a:r>
              <a:rPr sz="800" b="0">
                <a:solidFill>
                  <a:srgbClr val="C9D4E8"/>
                </a:solidFill>
                <a:latin typeface="Meiryo"/>
              </a:rPr>
              <a:t>納入管理システム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394960" cy="457200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394960" cy="6400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50292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eiryo"/>
              </a:rPr>
              <a:t>課題①　納品書を「写真」で管理・共有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4846320" cy="3566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222A35"/>
                </a:solidFill>
                <a:latin typeface="Meiryo"/>
              </a:rPr>
              <a:t>●  メール・チャット・個人端末で都度やり取り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22A35"/>
                </a:solidFill>
                <a:latin typeface="Meiryo"/>
              </a:rPr>
              <a:t>●  どの物件・どの発注の写真か判別しづらい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22A35"/>
                </a:solidFill>
                <a:latin typeface="Meiryo"/>
              </a:rPr>
              <a:t>●  フォルダに散在し、後から探すのに時間がかかる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22A35"/>
                </a:solidFill>
                <a:latin typeface="Meiryo"/>
              </a:rPr>
              <a:t>●  斜め／暗い／反射で読みにくい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22A35"/>
                </a:solidFill>
                <a:latin typeface="Meiryo"/>
              </a:rPr>
              <a:t>●  転送・保管中の紛失・上書きリスク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34440"/>
            <a:ext cx="5394960" cy="457200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234440"/>
            <a:ext cx="5394960" cy="6400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34440"/>
            <a:ext cx="50292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eiryo"/>
              </a:rPr>
              <a:t>課題②　現場の問い合わせに「電話」で対応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03120"/>
            <a:ext cx="4846320" cy="3566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222A35"/>
                </a:solidFill>
                <a:latin typeface="Meiryo"/>
              </a:rPr>
              <a:t>●  「いつ入る？」「もう来た？」が生産管理に集中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22A35"/>
                </a:solidFill>
                <a:latin typeface="Meiryo"/>
              </a:rPr>
              <a:t>●  そのつど手を止めて口頭で回答→本来業務が中断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22A35"/>
                </a:solidFill>
                <a:latin typeface="Meiryo"/>
              </a:rPr>
              <a:t>●  1対1・記録に残らず、同じ確認が繰り返される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22A35"/>
                </a:solidFill>
                <a:latin typeface="Meiryo"/>
              </a:rPr>
              <a:t>●  担当者が不在・時間外だと確認が止まる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22A35"/>
                </a:solidFill>
                <a:latin typeface="Meiryo"/>
              </a:rPr>
              <a:t>●  伝え間違いが起こりうる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2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eiryo"/>
              </a:rPr>
              <a:t>2. 旧フローの所要時間（試算）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0"/>
            <a:ext cx="146304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eiryo"/>
              </a:rPr>
              <a:t>INATETSU</a:t>
            </a:r>
          </a:p>
          <a:p>
            <a:pPr algn="r">
              <a:spcAft>
                <a:spcPts val="0"/>
              </a:spcAft>
            </a:pPr>
            <a:r>
              <a:rPr sz="800" b="0">
                <a:solidFill>
                  <a:srgbClr val="C9D4E8"/>
                </a:solidFill>
                <a:latin typeface="Meiryo"/>
              </a:rPr>
              <a:t>納入管理システム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22A35"/>
                </a:solidFill>
                <a:latin typeface="Meiryo"/>
              </a:rPr>
              <a:t>従来：電話 → 発注書（エクセル）の数字確認 → 納品書の写真確認 → 現場へ電話で報告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8229600" cy="658368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69680" y="1691640"/>
            <a:ext cx="2560320" cy="658368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795528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Meiryo"/>
              </a:rPr>
              <a:t>①  電話発信・取次ぎ（不在なら折り返し待ち）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691640"/>
            <a:ext cx="256032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D2C66"/>
                </a:solidFill>
                <a:latin typeface="Meiryo"/>
              </a:rPr>
              <a:t>1〜3分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50008"/>
            <a:ext cx="82296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69680" y="2350008"/>
            <a:ext cx="256032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50008"/>
            <a:ext cx="795528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Meiryo"/>
              </a:rPr>
              <a:t>②  用件ヒアリング（物件・品目・納期）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350008"/>
            <a:ext cx="256032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D2C66"/>
                </a:solidFill>
                <a:latin typeface="Meiryo"/>
              </a:rPr>
              <a:t>1分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008376"/>
            <a:ext cx="8229600" cy="658368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69680" y="3008376"/>
            <a:ext cx="2560320" cy="658368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008376"/>
            <a:ext cx="795528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Meiryo"/>
              </a:rPr>
              <a:t>③  発注書エクセル確認（発注番号・数量・納期）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008376"/>
            <a:ext cx="256032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D2C66"/>
                </a:solidFill>
                <a:latin typeface="Meiryo"/>
              </a:rPr>
              <a:t>2〜5分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666744"/>
            <a:ext cx="82296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69680" y="3666744"/>
            <a:ext cx="256032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666744"/>
            <a:ext cx="795528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Meiryo"/>
              </a:rPr>
              <a:t>④  納品書の写真を探して確認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666744"/>
            <a:ext cx="256032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D2C66"/>
                </a:solidFill>
                <a:latin typeface="Meiryo"/>
              </a:rPr>
              <a:t>3〜10分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325112"/>
            <a:ext cx="8229600" cy="658368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69680" y="4325112"/>
            <a:ext cx="2560320" cy="658368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325112"/>
            <a:ext cx="795528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Meiryo"/>
              </a:rPr>
              <a:t>⑤  現場へ折り返し報告（電話）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325112"/>
            <a:ext cx="256032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D2C66"/>
                </a:solidFill>
                <a:latin typeface="Meiryo"/>
              </a:rPr>
              <a:t>1〜3分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983480"/>
            <a:ext cx="8229600" cy="658368"/>
          </a:xfrm>
          <a:prstGeom prst="rect">
            <a:avLst/>
          </a:prstGeom>
          <a:solidFill>
            <a:srgbClr val="0D2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69680" y="4983480"/>
            <a:ext cx="2560320" cy="65836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983480"/>
            <a:ext cx="795528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合計（1件あたり）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4983480"/>
            <a:ext cx="256032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eiryo"/>
              </a:rPr>
              <a:t>約 8〜20分（平均≈12分）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779008"/>
            <a:ext cx="109728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eiryo"/>
              </a:rPr>
              <a:t>※ 現場・生産管理の双方に発生し、生産管理は毎回業務が中断。不在時は解決まで数十分〜数時間に延長。記録も残らない。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2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eiryo"/>
              </a:rPr>
              <a:t>2. 本システム導入後の所要時間と削減効果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0"/>
            <a:ext cx="146304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eiryo"/>
              </a:rPr>
              <a:t>INATETSU</a:t>
            </a:r>
          </a:p>
          <a:p>
            <a:pPr algn="r">
              <a:spcAft>
                <a:spcPts val="0"/>
              </a:spcAft>
            </a:pPr>
            <a:r>
              <a:rPr sz="800" b="0">
                <a:solidFill>
                  <a:srgbClr val="C9D4E8"/>
                </a:solidFill>
                <a:latin typeface="Meiryo"/>
              </a:rPr>
              <a:t>納入管理システム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22A35"/>
                </a:solidFill>
                <a:latin typeface="Meiryo"/>
              </a:rPr>
              <a:t>新フロー：現場が自分のスマホで確認（生産管理の対応は原則ゼロ）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8229600" cy="50292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69680" y="1508760"/>
            <a:ext cx="2560320" cy="50292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80467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A35"/>
                </a:solidFill>
                <a:latin typeface="Meiryo"/>
              </a:rPr>
              <a:t>①  アプリを開く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508760"/>
            <a:ext cx="25603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6A34A"/>
                </a:solidFill>
                <a:latin typeface="Meiryo"/>
              </a:rPr>
              <a:t>〜10秒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011680"/>
            <a:ext cx="82296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69680" y="2011680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011680"/>
            <a:ext cx="80467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A35"/>
                </a:solidFill>
                <a:latin typeface="Meiryo"/>
              </a:rPr>
              <a:t>②  カレンダー／検索で該当予定を特定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011680"/>
            <a:ext cx="25603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6A34A"/>
                </a:solidFill>
                <a:latin typeface="Meiryo"/>
              </a:rPr>
              <a:t>20〜40秒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514600"/>
            <a:ext cx="8229600" cy="50292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69680" y="2514600"/>
            <a:ext cx="2560320" cy="50292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514600"/>
            <a:ext cx="80467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A35"/>
                </a:solidFill>
                <a:latin typeface="Meiryo"/>
              </a:rPr>
              <a:t>③  発注番号・数量・納期・状態・納品書を1画面で確認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514600"/>
            <a:ext cx="25603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6A34A"/>
                </a:solidFill>
                <a:latin typeface="Meiryo"/>
              </a:rPr>
              <a:t>10〜20秒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017520"/>
            <a:ext cx="822960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69680" y="3017520"/>
            <a:ext cx="2560320" cy="502920"/>
          </a:xfrm>
          <a:prstGeom prst="rect">
            <a:avLst/>
          </a:prstGeom>
          <a:solidFill>
            <a:srgbClr val="0E7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017520"/>
            <a:ext cx="80467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eiryo"/>
              </a:rPr>
              <a:t>合計（1件あたり）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017520"/>
            <a:ext cx="25603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eiryo"/>
              </a:rPr>
              <a:t>約 1分以内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160520"/>
            <a:ext cx="3566160" cy="15544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389120"/>
            <a:ext cx="356616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約 90% 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120640"/>
            <a:ext cx="329184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Meiryo"/>
              </a:rPr>
              <a:t>1件あたり 約12分 → 約1分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4160520"/>
            <a:ext cx="3566160" cy="1554480"/>
          </a:xfrm>
          <a:prstGeom prst="rect">
            <a:avLst/>
          </a:prstGeom>
          <a:solidFill>
            <a:srgbClr val="0D2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4389120"/>
            <a:ext cx="356616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電話対応 ≈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5120640"/>
            <a:ext cx="329184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Meiryo"/>
              </a:rPr>
              <a:t>生産管理の中断をほぼ撤廃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4160520"/>
            <a:ext cx="3566160" cy="15544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0" y="4389120"/>
            <a:ext cx="356616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約 40時間/月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5120640"/>
            <a:ext cx="329184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Meiryo"/>
              </a:rPr>
              <a:t>10件/日想定の対応時間を本来業務へ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Meiryo"/>
              </a:rPr>
              <a:t>※ 標準的な作業を想定した試算値。実件数・1件あたり時間は運用実態で変動。導入後に「電話件数」「確認時間」の実測を推奨。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2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eiryo"/>
              </a:rPr>
              <a:t>3. 本システムで解消が見込めること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0"/>
            <a:ext cx="146304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eiryo"/>
              </a:rPr>
              <a:t>INATETSU</a:t>
            </a:r>
          </a:p>
          <a:p>
            <a:pPr algn="r">
              <a:spcAft>
                <a:spcPts val="0"/>
              </a:spcAft>
            </a:pPr>
            <a:r>
              <a:rPr sz="800" b="0">
                <a:solidFill>
                  <a:srgbClr val="C9D4E8"/>
                </a:solidFill>
                <a:latin typeface="Meiryo"/>
              </a:rPr>
              <a:t>納入管理システム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394960" cy="5943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5029200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課題①  写真管理 → クラウド台帳化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4937760" cy="3749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200"/>
              </a:spcAft>
            </a:pPr>
            <a:r>
              <a:rPr sz="1350" b="0">
                <a:solidFill>
                  <a:srgbClr val="222A35"/>
                </a:solidFill>
                <a:latin typeface="Meiryo"/>
              </a:rPr>
              <a:t>✓ 納品書を「該当の納入予定」に直接ひも付け保存（複数枚可）</a:t>
            </a:r>
          </a:p>
          <a:p>
            <a:pPr algn="l">
              <a:spcAft>
                <a:spcPts val="1200"/>
              </a:spcAft>
            </a:pPr>
            <a:r>
              <a:rPr sz="1350" b="0">
                <a:solidFill>
                  <a:srgbClr val="222A35"/>
                </a:solidFill>
                <a:latin typeface="Meiryo"/>
              </a:rPr>
              <a:t>✓ クラウド集約＋Google Drive へ自動二重保存で紛失防止</a:t>
            </a:r>
          </a:p>
          <a:p>
            <a:pPr algn="l">
              <a:spcAft>
                <a:spcPts val="1200"/>
              </a:spcAft>
            </a:pPr>
            <a:r>
              <a:rPr sz="1350" b="0">
                <a:solidFill>
                  <a:srgbClr val="222A35"/>
                </a:solidFill>
                <a:latin typeface="Meiryo"/>
              </a:rPr>
              <a:t>✓ 物件・業者・品目・日付・状態で検索し該当伝票へ即到達</a:t>
            </a:r>
          </a:p>
          <a:p>
            <a:pPr algn="l">
              <a:spcAft>
                <a:spcPts val="1200"/>
              </a:spcAft>
            </a:pPr>
            <a:r>
              <a:rPr sz="1350" b="0">
                <a:solidFill>
                  <a:srgbClr val="222A35"/>
                </a:solidFill>
                <a:latin typeface="Meiryo"/>
              </a:rPr>
              <a:t>✓ 撮影画像をスキャン書類風に自動補正して読みやすく</a:t>
            </a:r>
          </a:p>
          <a:p>
            <a:pPr algn="l">
              <a:spcAft>
                <a:spcPts val="1200"/>
              </a:spcAft>
            </a:pPr>
            <a:r>
              <a:rPr sz="1350" b="0">
                <a:solidFill>
                  <a:srgbClr val="222A35"/>
                </a:solidFill>
                <a:latin typeface="Meiryo"/>
              </a:rPr>
              <a:t>✓ 複数伝票を1つのPDFに綴じて提出・保管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34440"/>
            <a:ext cx="5394960" cy="5943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34440"/>
            <a:ext cx="5029200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課題②  電話対応 → セルフ確認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011680"/>
            <a:ext cx="4937760" cy="3749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200"/>
              </a:spcAft>
            </a:pPr>
            <a:r>
              <a:rPr sz="1350" b="0">
                <a:solidFill>
                  <a:srgbClr val="222A35"/>
                </a:solidFill>
                <a:latin typeface="Meiryo"/>
              </a:rPr>
              <a:t>✓ 現場がスマホで予定・状態・納品書を自分で確認→電話が減る</a:t>
            </a:r>
          </a:p>
          <a:p>
            <a:pPr algn="l">
              <a:spcAft>
                <a:spcPts val="1200"/>
              </a:spcAft>
            </a:pPr>
            <a:r>
              <a:rPr sz="1350" b="0">
                <a:solidFill>
                  <a:srgbClr val="222A35"/>
                </a:solidFill>
                <a:latin typeface="Meiryo"/>
              </a:rPr>
              <a:t>✓ カレンダー／リストで納期・時間帯・進捗を一覧</a:t>
            </a:r>
          </a:p>
          <a:p>
            <a:pPr algn="l">
              <a:spcAft>
                <a:spcPts val="1200"/>
              </a:spcAft>
            </a:pPr>
            <a:r>
              <a:rPr sz="1350" b="0">
                <a:solidFill>
                  <a:srgbClr val="222A35"/>
                </a:solidFill>
                <a:latin typeface="Meiryo"/>
              </a:rPr>
              <a:t>✓ 業者・降し場所・数量・発注番号まで1画面で参照</a:t>
            </a:r>
          </a:p>
          <a:p>
            <a:pPr algn="l">
              <a:spcAft>
                <a:spcPts val="1200"/>
              </a:spcAft>
            </a:pPr>
            <a:r>
              <a:rPr sz="1350" b="0">
                <a:solidFill>
                  <a:srgbClr val="222A35"/>
                </a:solidFill>
                <a:latin typeface="Meiryo"/>
              </a:rPr>
              <a:t>✓ インターネット越しに現場・外出先・時間外でも確認</a:t>
            </a:r>
          </a:p>
          <a:p>
            <a:pPr algn="l">
              <a:spcAft>
                <a:spcPts val="1200"/>
              </a:spcAft>
            </a:pPr>
            <a:r>
              <a:rPr sz="1350" b="0">
                <a:solidFill>
                  <a:srgbClr val="222A35"/>
                </a:solidFill>
                <a:latin typeface="Meiryo"/>
              </a:rPr>
              <a:t>✓ 情報が台帳化され、誰が見ても同じ・状態変更も日時で記録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2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eiryo"/>
              </a:rPr>
              <a:t>4. システム画面 ― WEB（PC）①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0"/>
            <a:ext cx="146304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eiryo"/>
              </a:rPr>
              <a:t>INATETSU</a:t>
            </a:r>
          </a:p>
          <a:p>
            <a:pPr algn="r">
              <a:spcAft>
                <a:spcPts val="0"/>
              </a:spcAft>
            </a:pPr>
            <a:r>
              <a:rPr sz="800" b="0">
                <a:solidFill>
                  <a:srgbClr val="C9D4E8"/>
                </a:solidFill>
                <a:latin typeface="Meiryo"/>
              </a:rPr>
              <a:t>納入管理システム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501487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D2C66"/>
                </a:solidFill>
                <a:latin typeface="Meiryo"/>
              </a:rPr>
              <a:t>カレンダー：月/週/日・品目を色分け表示</a:t>
            </a:r>
          </a:p>
        </p:txBody>
      </p:sp>
      <p:sp>
        <p:nvSpPr>
          <p:cNvPr id="7" name="Rectangle 6"/>
          <p:cNvSpPr/>
          <p:nvPr/>
        </p:nvSpPr>
        <p:spPr>
          <a:xfrm>
            <a:off x="447675" y="2342559"/>
            <a:ext cx="5520537" cy="3453042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calendar_w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52084"/>
            <a:ext cx="5501487" cy="34339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33007" y="1143000"/>
            <a:ext cx="5501487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D2C66"/>
                </a:solidFill>
                <a:latin typeface="Meiryo"/>
              </a:rPr>
              <a:t>リスト/進捗：日別に整理・納入済み件数を表示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3482" y="2340340"/>
            <a:ext cx="5520537" cy="3457479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3_list_w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349865"/>
            <a:ext cx="5501487" cy="34384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2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eiryo"/>
              </a:rPr>
              <a:t>4. システム画面 ― WEB（PC）②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0"/>
            <a:ext cx="146304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eiryo"/>
              </a:rPr>
              <a:t>INATETSU</a:t>
            </a:r>
          </a:p>
          <a:p>
            <a:pPr algn="r">
              <a:spcAft>
                <a:spcPts val="0"/>
              </a:spcAft>
            </a:pPr>
            <a:r>
              <a:rPr sz="800" b="0">
                <a:solidFill>
                  <a:srgbClr val="C9D4E8"/>
                </a:solidFill>
                <a:latin typeface="Meiryo"/>
              </a:rPr>
              <a:t>納入管理システム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501487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D2C66"/>
                </a:solidFill>
                <a:latin typeface="Meiryo"/>
              </a:rPr>
              <a:t>絞り込み検索：物件・品目・業者・場所・日付・状態</a:t>
            </a:r>
          </a:p>
        </p:txBody>
      </p:sp>
      <p:sp>
        <p:nvSpPr>
          <p:cNvPr id="7" name="Rectangle 6"/>
          <p:cNvSpPr/>
          <p:nvPr/>
        </p:nvSpPr>
        <p:spPr>
          <a:xfrm>
            <a:off x="447675" y="2342559"/>
            <a:ext cx="5520537" cy="3453042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filter_w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52084"/>
            <a:ext cx="5501487" cy="34339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33007" y="1143000"/>
            <a:ext cx="5501487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D2C66"/>
                </a:solidFill>
                <a:latin typeface="Meiryo"/>
              </a:rPr>
              <a:t>納入詳細＋納品書：発注番号〜伝票を1画面で確認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3482" y="2340340"/>
            <a:ext cx="5520537" cy="3457479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5_detail_w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349865"/>
            <a:ext cx="5501487" cy="34384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2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eiryo"/>
              </a:rPr>
              <a:t>4. システム画面 ― スマートフォン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0"/>
            <a:ext cx="146304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eiryo"/>
              </a:rPr>
              <a:t>INATETSU</a:t>
            </a:r>
          </a:p>
          <a:p>
            <a:pPr algn="r">
              <a:spcAft>
                <a:spcPts val="0"/>
              </a:spcAft>
            </a:pPr>
            <a:r>
              <a:rPr sz="800" b="0">
                <a:solidFill>
                  <a:srgbClr val="C9D4E8"/>
                </a:solidFill>
                <a:latin typeface="Meiryo"/>
              </a:rPr>
              <a:t>納入管理システム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2926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D2C66"/>
                </a:solidFill>
                <a:latin typeface="Meiryo"/>
              </a:rPr>
              <a:t>カレンダー（スマホ）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952516" y="1682115"/>
            <a:ext cx="2301207" cy="4956810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_calendar_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41" y="1691640"/>
            <a:ext cx="2282157" cy="4937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749040" y="1280160"/>
            <a:ext cx="2926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D2C66"/>
                </a:solidFill>
                <a:latin typeface="Meiryo"/>
              </a:rPr>
              <a:t>納入詳細（スマホ）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0488" y="1682115"/>
            <a:ext cx="2303183" cy="4956810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7_detail_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0013" y="1691640"/>
            <a:ext cx="2284133" cy="49377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406640" y="1371600"/>
            <a:ext cx="4297680" cy="438912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1554480"/>
            <a:ext cx="3749039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D2C66"/>
                </a:solidFill>
                <a:latin typeface="Meiryo"/>
              </a:rPr>
              <a:t>現場での価値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80" y="2194560"/>
            <a:ext cx="3657600" cy="3291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400"/>
              </a:spcAft>
            </a:pPr>
            <a:r>
              <a:rPr sz="1300" b="0">
                <a:solidFill>
                  <a:srgbClr val="222A35"/>
                </a:solidFill>
                <a:latin typeface="Meiryo"/>
              </a:rPr>
              <a:t>●  電話せずに「いつ入る/もう来たか」を自分で確認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222A35"/>
                </a:solidFill>
                <a:latin typeface="Meiryo"/>
              </a:rPr>
              <a:t>●  発注番号・数量・納期・業者・降し場所を即参照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222A35"/>
                </a:solidFill>
                <a:latin typeface="Meiryo"/>
              </a:rPr>
              <a:t>●  納品書画像もその場で確認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222A35"/>
                </a:solidFill>
                <a:latin typeface="Meiryo"/>
              </a:rPr>
              <a:t>●  受け取り時に「納入済み」をワンタップ記録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222A35"/>
                </a:solidFill>
                <a:latin typeface="Meiryo"/>
              </a:rPr>
              <a:t>●  現場・外出先・時間外でもアクセス可能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2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eiryo"/>
              </a:rPr>
              <a:t>5. 注目すべき「工夫」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0"/>
            <a:ext cx="146304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eiryo"/>
              </a:rPr>
              <a:t>INATETSU</a:t>
            </a:r>
          </a:p>
          <a:p>
            <a:pPr algn="r">
              <a:spcAft>
                <a:spcPts val="0"/>
              </a:spcAft>
            </a:pPr>
            <a:r>
              <a:rPr sz="800" b="0">
                <a:solidFill>
                  <a:srgbClr val="C9D4E8"/>
                </a:solidFill>
                <a:latin typeface="Meiryo"/>
              </a:rPr>
              <a:t>納入管理システム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486400" cy="1170432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09728" cy="11704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280160"/>
            <a:ext cx="507492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D2C66"/>
                </a:solidFill>
                <a:latin typeface="Meiryo"/>
              </a:rPr>
              <a:t>納品書のスキャン風自動補正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691640"/>
            <a:ext cx="5074920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22A35"/>
                </a:solidFill>
                <a:latin typeface="Meiryo"/>
              </a:rPr>
              <a:t>OpenCV.jsで四隅検出→台形補正→白黒化。撮るだけで読みやすい書類に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88720"/>
            <a:ext cx="5486400" cy="1170432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188720"/>
            <a:ext cx="109728" cy="11704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280160"/>
            <a:ext cx="507492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D2C66"/>
                </a:solidFill>
                <a:latin typeface="Meiryo"/>
              </a:rPr>
              <a:t>クラウド＋Google Drive 二重保存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1691640"/>
            <a:ext cx="5074920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22A35"/>
                </a:solidFill>
                <a:latin typeface="Meiryo"/>
              </a:rPr>
              <a:t>Drive失敗でも保存は成功扱い。運用を止めない設計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68880"/>
            <a:ext cx="5486400" cy="1170432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468880"/>
            <a:ext cx="109728" cy="11704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560320"/>
            <a:ext cx="507492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D2C66"/>
                </a:solidFill>
                <a:latin typeface="Meiryo"/>
              </a:rPr>
              <a:t>複数伝票のPDF一括出力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971800"/>
            <a:ext cx="5074920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22A35"/>
                </a:solidFill>
                <a:latin typeface="Meiryo"/>
              </a:rPr>
              <a:t>「納入伝票_物件名_日付.pdf」で自動命名・提出/保管に直結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2468880"/>
            <a:ext cx="5486400" cy="1170432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2468880"/>
            <a:ext cx="109728" cy="11704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2560320"/>
            <a:ext cx="507492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D2C66"/>
                </a:solidFill>
                <a:latin typeface="Meiryo"/>
              </a:rPr>
              <a:t>マルチデバイス対応UI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2971800"/>
            <a:ext cx="5074920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22A35"/>
                </a:solidFill>
                <a:latin typeface="Meiryo"/>
              </a:rPr>
              <a:t>PC=サイドバー / iPad=タブ / スマホ=ボトムナビ＋スワイプ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49040"/>
            <a:ext cx="5486400" cy="1170432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749040"/>
            <a:ext cx="109728" cy="11704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840480"/>
            <a:ext cx="507492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D2C66"/>
                </a:solidFill>
                <a:latin typeface="Meiryo"/>
              </a:rPr>
              <a:t>品目カテゴリの色分け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251960"/>
            <a:ext cx="5074920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22A35"/>
                </a:solidFill>
                <a:latin typeface="Meiryo"/>
              </a:rPr>
              <a:t>型板=赤・鋼材=緑・ボルト=紫…で一目判別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3749040"/>
            <a:ext cx="5486400" cy="1170432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3749040"/>
            <a:ext cx="109728" cy="11704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3840480"/>
            <a:ext cx="507492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D2C66"/>
                </a:solidFill>
                <a:latin typeface="Meiryo"/>
              </a:rPr>
              <a:t>編集／閲覧の権限分離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4251960"/>
            <a:ext cx="5074920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22A35"/>
                </a:solidFill>
                <a:latin typeface="Meiryo"/>
              </a:rPr>
              <a:t>現場は閲覧専用で安全共有。操作はサーバ側でも権限チェック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029200"/>
            <a:ext cx="5486400" cy="1170432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029200"/>
            <a:ext cx="109728" cy="11704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5120640"/>
            <a:ext cx="507492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D2C66"/>
                </a:solidFill>
                <a:latin typeface="Meiryo"/>
              </a:rPr>
              <a:t>Google Sheets 取り込み連携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5532120"/>
            <a:ext cx="5074920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22A35"/>
                </a:solidFill>
                <a:latin typeface="Meiryo"/>
              </a:rPr>
              <a:t>既存予定を取り込み（重複排除・日付正規化）→移行が容易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5029200"/>
            <a:ext cx="5486400" cy="1170432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5029200"/>
            <a:ext cx="109728" cy="11704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28232" y="5120640"/>
            <a:ext cx="507492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D2C66"/>
                </a:solidFill>
                <a:latin typeface="Meiryo"/>
              </a:rPr>
              <a:t>状態管理と進捗の可視化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8232" y="5532120"/>
            <a:ext cx="5074920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22A35"/>
                </a:solidFill>
                <a:latin typeface="Meiryo"/>
              </a:rPr>
              <a:t>予定→納入済みを日時記録。日別の進捗率を表示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2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eiryo"/>
              </a:rPr>
              <a:t>6. まとめ ― 期待される効果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0"/>
            <a:ext cx="146304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eiryo"/>
              </a:rPr>
              <a:t>INATETSU</a:t>
            </a:r>
          </a:p>
          <a:p>
            <a:pPr algn="r">
              <a:spcAft>
                <a:spcPts val="0"/>
              </a:spcAft>
            </a:pPr>
            <a:r>
              <a:rPr sz="800" b="0">
                <a:solidFill>
                  <a:srgbClr val="C9D4E8"/>
                </a:solidFill>
                <a:latin typeface="Meiryo"/>
              </a:rPr>
              <a:t>納入管理システム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2194560" cy="960120"/>
          </a:xfrm>
          <a:prstGeom prst="rect">
            <a:avLst/>
          </a:prstGeom>
          <a:solidFill>
            <a:srgbClr val="0D2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219456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納品書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234440"/>
            <a:ext cx="4023360" cy="96012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234440"/>
            <a:ext cx="3749039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C2626"/>
                </a:solidFill>
                <a:latin typeface="Meiryo"/>
              </a:rPr>
              <a:t>従来：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22A35"/>
                </a:solidFill>
                <a:latin typeface="Meiryo"/>
              </a:rPr>
              <a:t>写真の散在・紛失・判別困難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234440"/>
            <a:ext cx="4846320" cy="960120"/>
          </a:xfrm>
          <a:prstGeom prst="rect">
            <a:avLst/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1234440"/>
            <a:ext cx="457200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A34A"/>
                </a:solidFill>
                <a:latin typeface="Meiryo"/>
              </a:rPr>
              <a:t>本システム：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22A35"/>
                </a:solidFill>
                <a:latin typeface="Meiryo"/>
              </a:rPr>
              <a:t>予定にひも付くクラウド台帳で一元管理・即検索・二重保存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13432"/>
            <a:ext cx="2194560" cy="960120"/>
          </a:xfrm>
          <a:prstGeom prst="rect">
            <a:avLst/>
          </a:prstGeom>
          <a:solidFill>
            <a:srgbClr val="0D2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313432"/>
            <a:ext cx="219456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問い合わせ対応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2313432"/>
            <a:ext cx="4023360" cy="96012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2313432"/>
            <a:ext cx="3749039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C2626"/>
                </a:solidFill>
                <a:latin typeface="Meiryo"/>
              </a:rPr>
              <a:t>従来：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22A35"/>
                </a:solidFill>
                <a:latin typeface="Meiryo"/>
              </a:rPr>
              <a:t>電話の集中・業務中断・記録なし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2313432"/>
            <a:ext cx="4846320" cy="960120"/>
          </a:xfrm>
          <a:prstGeom prst="rect">
            <a:avLst/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2313432"/>
            <a:ext cx="457200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A34A"/>
                </a:solidFill>
                <a:latin typeface="Meiryo"/>
              </a:rPr>
              <a:t>本システム：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22A35"/>
                </a:solidFill>
                <a:latin typeface="Meiryo"/>
              </a:rPr>
              <a:t>現場がスマホでセルフ確認、生産管理は本来業務に集中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92424"/>
            <a:ext cx="2194560" cy="960120"/>
          </a:xfrm>
          <a:prstGeom prst="rect">
            <a:avLst/>
          </a:prstGeom>
          <a:solidFill>
            <a:srgbClr val="0D2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392424"/>
            <a:ext cx="219456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時間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3392424"/>
            <a:ext cx="4023360" cy="96012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3392424"/>
            <a:ext cx="3749039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C2626"/>
                </a:solidFill>
                <a:latin typeface="Meiryo"/>
              </a:rPr>
              <a:t>従来：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22A35"/>
                </a:solidFill>
                <a:latin typeface="Meiryo"/>
              </a:rPr>
              <a:t>1件あたり 約12分・電話往復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3392424"/>
            <a:ext cx="4846320" cy="960120"/>
          </a:xfrm>
          <a:prstGeom prst="rect">
            <a:avLst/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3392424"/>
            <a:ext cx="457200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A34A"/>
                </a:solidFill>
                <a:latin typeface="Meiryo"/>
              </a:rPr>
              <a:t>本システム：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22A35"/>
                </a:solidFill>
                <a:latin typeface="Meiryo"/>
              </a:rPr>
              <a:t>1件あたり 約1分（約90%減）・即時確認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71416"/>
            <a:ext cx="2194560" cy="960120"/>
          </a:xfrm>
          <a:prstGeom prst="rect">
            <a:avLst/>
          </a:prstGeom>
          <a:solidFill>
            <a:srgbClr val="0D2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471416"/>
            <a:ext cx="219456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副次効果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4471416"/>
            <a:ext cx="4023360" cy="96012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80360" y="4471416"/>
            <a:ext cx="3749039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C2626"/>
                </a:solidFill>
                <a:latin typeface="Meiryo"/>
              </a:rPr>
              <a:t>従来：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22A35"/>
                </a:solidFill>
                <a:latin typeface="Meiryo"/>
              </a:rPr>
              <a:t>伝言ミス・属人化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4471416"/>
            <a:ext cx="4846320" cy="960120"/>
          </a:xfrm>
          <a:prstGeom prst="rect">
            <a:avLst/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60" y="4471416"/>
            <a:ext cx="457200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A34A"/>
                </a:solidFill>
                <a:latin typeface="Meiryo"/>
              </a:rPr>
              <a:t>本システム：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22A35"/>
                </a:solidFill>
                <a:latin typeface="Meiryo"/>
              </a:rPr>
              <a:t>記録の一元化、時間外/現場からの確認、PDF化で保管効率化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596128"/>
            <a:ext cx="112471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eiryo"/>
              </a:rPr>
              <a:t>導入後は「電話問い合わせ件数」「納品書を探す時間」をKPIとして実測し、効果を継続検証することを推奨。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